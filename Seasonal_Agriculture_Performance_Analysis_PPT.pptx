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976229"/>
            <a:ext cx="5120640" cy="861497"/>
          </a:xfrm>
        </p:spPr>
        <p:txBody>
          <a:bodyPr vert="horz" lIns="91440" tIns="45720" rIns="91440" bIns="45720" rtlCol="0" anchor="t">
            <a:normAutofit/>
          </a:bodyPr>
          <a:lstStyle/>
          <a:p>
            <a:pPr algn="r"/>
            <a:r>
              <a:rPr sz="1500" dirty="0"/>
              <a:t>Arna</a:t>
            </a:r>
            <a:r>
              <a:rPr lang="en-IN" sz="1500" dirty="0"/>
              <a:t>o</a:t>
            </a:r>
            <a:r>
              <a:rPr sz="1500" dirty="0"/>
              <a:t>v Garg</a:t>
            </a:r>
            <a:endParaRPr lang="en-IN" b="0" dirty="0">
              <a:solidFill>
                <a:schemeClr val="tx1"/>
              </a:solidFill>
            </a:endParaRPr>
          </a:p>
          <a:p>
            <a:r>
              <a:rPr sz="1300" dirty="0" err="1"/>
              <a:t>B.Tech</a:t>
            </a:r>
            <a:r>
              <a:rPr sz="1300" dirty="0"/>
              <a:t> CSE Core, SRMIST, </a:t>
            </a:r>
            <a:r>
              <a:rPr sz="1300" dirty="0" err="1"/>
              <a:t>Modinagar</a:t>
            </a:r>
            <a:endParaRPr sz="1300" dirty="0"/>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lang="en-GB" sz="3200" dirty="0"/>
              <a:t>Project Title - </a:t>
            </a:r>
            <a:r>
              <a:rPr b="1" dirty="0"/>
              <a:t>Seasonal Agriculture Performance Analysis</a:t>
            </a:r>
            <a:br>
              <a:rPr lang="en-IN" b="1"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58837" y="4837726"/>
            <a:ext cx="4754880" cy="338554"/>
          </a:xfrm>
          <a:prstGeom prst="rect">
            <a:avLst/>
          </a:prstGeom>
          <a:noFill/>
        </p:spPr>
        <p:txBody>
          <a:bodyPr wrap="square" rtlCol="0">
            <a:spAutoFit/>
          </a:bodyPr>
          <a:lstStyle/>
          <a:p>
            <a:r>
              <a:rPr lang="en-US" sz="1200" b="1" dirty="0"/>
              <a:t>AICTE STU ID : </a:t>
            </a:r>
            <a:r>
              <a:rPr lang="en-IN" sz="1600" b="1" dirty="0"/>
              <a:t>STU66fc1fdc7fe6b1727799260</a:t>
            </a:r>
            <a:endParaRPr lang="en-US" sz="16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4206240"/>
          </a:xfrm>
        </p:spPr>
        <p:txBody>
          <a:bodyPr>
            <a:normAutofit/>
          </a:bodyPr>
          <a:lstStyle/>
          <a:p>
            <a:r>
              <a:rPr sz="2600" b="1"/>
              <a:t>Project Description</a:t>
            </a:r>
            <a:endParaRPr lang="en-IN" dirty="0"/>
          </a:p>
          <a:p>
            <a:pPr>
              <a:spcAft>
                <a:spcPts val="1000"/>
              </a:spcAft>
            </a:pPr>
            <a:r>
              <a:rPr sz="1500" b="0"/>
              <a:t>This project analyzes a farm-level dataset of 4,000 records covering three Indian cropping seasons - Kharif, Rabi and Zaid - across 8 states, 8 crops and 4 irrigation methods.</a:t>
            </a:r>
          </a:p>
          <a:p>
            <a:pPr>
              <a:spcAft>
                <a:spcPts val="1000"/>
              </a:spcAft>
            </a:pPr>
            <a:r>
              <a:rPr sz="1500" b="0"/>
              <a:t>The workflow includes data cleaning (handling missing values and outliers), exploratory data analysis, and seasonal comparison of yield, cost, revenue, profit, water efficiency and disease/pest risk.</a:t>
            </a:r>
          </a:p>
          <a:p>
            <a:pPr>
              <a:spcAft>
                <a:spcPts val="1000"/>
              </a:spcAft>
            </a:pPr>
            <a:r>
              <a:rPr sz="1500" b="0"/>
              <a:t>Statistical testing (one-way ANOVA) is used to confirm whether the seasonal differences observed are significant.</a:t>
            </a:r>
          </a:p>
          <a:p>
            <a:pPr>
              <a:spcAft>
                <a:spcPts val="1000"/>
              </a:spcAft>
            </a:pPr>
            <a:r>
              <a:rPr sz="1500" b="0"/>
              <a:t>The complete analysis - cleaning, visualizations, statistical tests, insights and recommendations - is documented in a single Jupyter Notebook.</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spcAft>
                <a:spcPts val="800"/>
              </a:spcAft>
            </a:pPr>
            <a:r>
              <a:rPr sz="1700"/>
              <a:t>Farmers - to choose season-appropriate crops and irrigation methods.</a:t>
            </a:r>
            <a:endParaRPr lang="en-IN" sz="3600" dirty="0"/>
          </a:p>
          <a:p>
            <a:pPr>
              <a:spcAft>
                <a:spcPts val="800"/>
              </a:spcAft>
            </a:pPr>
            <a:r>
              <a:rPr sz="1700"/>
              <a:t>Agricultural extension officers &amp; government departments - for evidence-based seasonal planning and advisories.</a:t>
            </a:r>
          </a:p>
          <a:p>
            <a:pPr>
              <a:spcAft>
                <a:spcPts val="800"/>
              </a:spcAft>
            </a:pPr>
            <a:r>
              <a:rPr sz="1700"/>
              <a:t>Agribusiness &amp; agri-input companies - to plan fertilizer/seed supply by season.</a:t>
            </a:r>
          </a:p>
          <a:p>
            <a:pPr>
              <a:spcAft>
                <a:spcPts val="800"/>
              </a:spcAft>
            </a:pPr>
            <a:r>
              <a:rPr sz="1700"/>
              <a:t>Policy makers &amp; agricultural planners - for regional and seasonal resource allocation.</a:t>
            </a:r>
          </a:p>
          <a:p>
            <a:pPr>
              <a:spcAft>
                <a:spcPts val="800"/>
              </a:spcAft>
            </a:pPr>
            <a:r>
              <a:rPr sz="1700"/>
              <a:t>Banks &amp; crop-insurance providers - to assess seasonal risk and profitability.</a:t>
            </a:r>
          </a:p>
          <a:p>
            <a:pPr>
              <a:spcAft>
                <a:spcPts val="800"/>
              </a:spcAft>
            </a:pPr>
            <a:r>
              <a:rPr sz="1700"/>
              <a:t>Researchers &amp; students - as a reference analysis of seasonal agricultural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103120" y="1432560"/>
            <a:ext cx="7680960" cy="5243448"/>
          </a:xfrm>
        </p:spPr>
        <p:txBody>
          <a:bodyPr/>
          <a:lstStyle/>
          <a:p>
            <a:pPr lvl="1">
              <a:lnSpc>
                <a:spcPct val="150000"/>
              </a:lnSpc>
              <a:spcAft>
                <a:spcPts val="1000"/>
              </a:spcAft>
            </a:pPr>
            <a:r>
              <a:rPr sz="1700"/>
              <a:t>Python 3 - core programming language</a:t>
            </a:r>
            <a:endParaRPr lang="en-IN" dirty="0"/>
          </a:p>
          <a:p>
            <a:pPr>
              <a:spcAft>
                <a:spcPts val="1000"/>
              </a:spcAft>
            </a:pPr>
            <a:r>
              <a:rPr sz="1700"/>
              <a:t>Pandas &amp; NumPy - cleaning &amp; aggregation</a:t>
            </a:r>
          </a:p>
          <a:p>
            <a:pPr>
              <a:spcAft>
                <a:spcPts val="1000"/>
              </a:spcAft>
            </a:pPr>
            <a:r>
              <a:rPr sz="1700"/>
              <a:t>Matplotlib &amp; Seaborn - visualizations</a:t>
            </a:r>
          </a:p>
          <a:p>
            <a:pPr>
              <a:spcAft>
                <a:spcPts val="1000"/>
              </a:spcAft>
            </a:pPr>
            <a:r>
              <a:rPr sz="1700"/>
              <a:t>SciPy (stats) - ANOVA significance testing</a:t>
            </a:r>
          </a:p>
          <a:p>
            <a:pPr>
              <a:spcAft>
                <a:spcPts val="1000"/>
              </a:spcAft>
            </a:pPr>
            <a:r>
              <a:rPr sz="1700"/>
              <a:t>Jupyter Notebook - full documented analysis</a:t>
            </a:r>
          </a:p>
          <a:p>
            <a:pPr>
              <a:spcAft>
                <a:spcPts val="1000"/>
              </a:spcAft>
            </a:pPr>
            <a:r>
              <a:rPr sz="1700"/>
              <a:t>PowerPoint &amp; GitHub - presentation &amp;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solidFill>
                  <a:srgbClr val="2C5F2D"/>
                </a:solidFill>
              </a:rPr>
              <a:t>Seasonal Overview</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a:solidFill>
                  <a:srgbClr val="212921"/>
                </a:solidFill>
              </a:rPr>
              <a:t>Kharif leads on both yield (2.26 t/ha) and profit (Rs. 1.79L avg)</a:t>
            </a:r>
            <a:endParaRPr lang="en-GB" sz="2000" dirty="0"/>
          </a:p>
        </p:txBody>
      </p:sp>
      <p:pic>
        <p:nvPicPr>
          <p:cNvPr id="24" name="Picture 23" descr="02_seasonal_overview.png"/>
          <p:cNvPicPr>
            <a:picLocks noChangeAspect="1"/>
          </p:cNvPicPr>
          <p:nvPr/>
        </p:nvPicPr>
        <p:blipFill>
          <a:blip r:embed="rId3"/>
          <a:stretch>
            <a:fillRect/>
          </a:stretch>
        </p:blipFill>
        <p:spPr>
          <a:xfrm>
            <a:off x="3329894" y="2057400"/>
            <a:ext cx="5532211" cy="425196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solidFill>
                  <a:srgbClr val="2C5F2D"/>
                </a:solidFill>
              </a:rPr>
              <a:t>Yield &amp; Profit Distribution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a:solidFill>
                  <a:srgbClr val="212921"/>
                </a:solidFill>
              </a:rPr>
              <a:t>Spread confirms the ranking: Kharif &gt; Rabi &gt; Zaid for both metrics</a:t>
            </a:r>
            <a:endParaRPr lang="en-GB" sz="2000" dirty="0"/>
          </a:p>
        </p:txBody>
      </p:sp>
      <p:pic>
        <p:nvPicPr>
          <p:cNvPr id="31" name="Picture 30" descr="03_yield_profit_distribution.png"/>
          <p:cNvPicPr>
            <a:picLocks noChangeAspect="1"/>
          </p:cNvPicPr>
          <p:nvPr/>
        </p:nvPicPr>
        <p:blipFill>
          <a:blip r:embed="rId3"/>
          <a:stretch>
            <a:fillRect/>
          </a:stretch>
        </p:blipFill>
        <p:spPr>
          <a:xfrm>
            <a:off x="910198" y="2057400"/>
            <a:ext cx="10371603" cy="425196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solidFill>
                  <a:srgbClr val="2C5F2D"/>
                </a:solidFill>
              </a:rPr>
              <a:t>Crop Performance by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a:solidFill>
                  <a:srgbClr val="212921"/>
                </a:solidFill>
              </a:rPr>
              <a:t>Heatmap reveals the best-fit crop for each season (darkest cells)</a:t>
            </a:r>
            <a:endParaRPr lang="en-GB" sz="2000" dirty="0"/>
          </a:p>
        </p:txBody>
      </p:sp>
      <p:pic>
        <p:nvPicPr>
          <p:cNvPr id="31" name="Picture 30" descr="04_crop_season_heatmap.png"/>
          <p:cNvPicPr>
            <a:picLocks noChangeAspect="1"/>
          </p:cNvPicPr>
          <p:nvPr/>
        </p:nvPicPr>
        <p:blipFill>
          <a:blip r:embed="rId3"/>
          <a:stretch>
            <a:fillRect/>
          </a:stretch>
        </p:blipFill>
        <p:spPr>
          <a:xfrm>
            <a:off x="3653594" y="2057400"/>
            <a:ext cx="4884809" cy="425196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solidFill>
                  <a:srgbClr val="2C5F2D"/>
                </a:solidFill>
              </a:rPr>
              <a:t>State-wise Seasonal Profitability</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a:solidFill>
                  <a:srgbClr val="212921"/>
                </a:solidFill>
              </a:rPr>
              <a:t>Ranking is mostly consistent across states, with a few regional exceptions</a:t>
            </a:r>
            <a:endParaRPr lang="en-GB" sz="2000" dirty="0"/>
          </a:p>
        </p:txBody>
      </p:sp>
      <p:pic>
        <p:nvPicPr>
          <p:cNvPr id="31" name="Picture 30" descr="05_state_season_profit.png"/>
          <p:cNvPicPr>
            <a:picLocks noChangeAspect="1"/>
          </p:cNvPicPr>
          <p:nvPr/>
        </p:nvPicPr>
        <p:blipFill>
          <a:blip r:embed="rId3"/>
          <a:stretch>
            <a:fillRect/>
          </a:stretch>
        </p:blipFill>
        <p:spPr>
          <a:xfrm>
            <a:off x="1393620" y="2057400"/>
            <a:ext cx="9404758" cy="425196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solidFill>
                  <a:srgbClr val="2C5F2D"/>
                </a:solidFill>
              </a:rPr>
              <a:t>Correlation &amp; Statistical Significance</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a:solidFill>
                  <a:srgbClr val="212921"/>
                </a:solidFill>
              </a:rPr>
              <a:t>ANOVA confirms seasonal gaps in yield &amp; profit are significant (p &lt; 0.001)</a:t>
            </a:r>
            <a:endParaRPr lang="en-GB" sz="2000" dirty="0"/>
          </a:p>
        </p:txBody>
      </p:sp>
      <p:pic>
        <p:nvPicPr>
          <p:cNvPr id="31" name="Picture 30" descr="08_correlation_heatmap.png"/>
          <p:cNvPicPr>
            <a:picLocks noChangeAspect="1"/>
          </p:cNvPicPr>
          <p:nvPr/>
        </p:nvPicPr>
        <p:blipFill>
          <a:blip r:embed="rId3"/>
          <a:stretch>
            <a:fillRect/>
          </a:stretch>
        </p:blipFill>
        <p:spPr>
          <a:xfrm>
            <a:off x="3590614" y="2057400"/>
            <a:ext cx="5010771" cy="425196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solidFill>
                  <a:srgbClr val="2C5F2D"/>
                </a:solidFill>
              </a:rPr>
              <a:t>What's next</a:t>
            </a:r>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300">
                <a:solidFill>
                  <a:srgbClr val="212921"/>
                </a:solidFill>
              </a:rPr>
              <a:t>Extending this analysis toward predictive, farm-level decision support</a:t>
            </a:r>
            <a:endParaRPr lang="en-GB" sz="2000" dirty="0"/>
          </a:p>
        </p:txBody>
      </p:sp>
      <p:sp>
        <p:nvSpPr>
          <p:cNvPr id="24" name="TextBox 23"/>
          <p:cNvSpPr txBox="1"/>
          <p:nvPr/>
        </p:nvSpPr>
        <p:spPr>
          <a:xfrm>
            <a:off x="548640" y="2103120"/>
            <a:ext cx="10515600" cy="3931920"/>
          </a:xfrm>
          <a:prstGeom prst="rect">
            <a:avLst/>
          </a:prstGeom>
          <a:noFill/>
        </p:spPr>
        <p:txBody>
          <a:bodyPr wrap="square">
            <a:spAutoFit/>
          </a:bodyPr>
          <a:lstStyle/>
          <a:p>
            <a:pPr>
              <a:spcAft>
                <a:spcPts val="1000"/>
              </a:spcAft>
            </a:pPr>
            <a:r>
              <a:rPr sz="1600">
                <a:solidFill>
                  <a:srgbClr val="212921"/>
                </a:solidFill>
              </a:rPr>
              <a:t>Build a machine learning model to predict yield/profit for a given season, crop and region, instead of only descriptive comparison.</a:t>
            </a:r>
          </a:p>
          <a:p>
            <a:pPr>
              <a:spcAft>
                <a:spcPts val="1000"/>
              </a:spcAft>
            </a:pPr>
            <a:r>
              <a:rPr sz="1600">
                <a:solidFill>
                  <a:srgbClr val="212921"/>
                </a:solidFill>
              </a:rPr>
              <a:t>Incorporate real-time weather and market-price feeds for dynamic, up-to-date seasonal recommendations.</a:t>
            </a:r>
          </a:p>
          <a:p>
            <a:pPr>
              <a:spcAft>
                <a:spcPts val="1000"/>
              </a:spcAft>
            </a:pPr>
            <a:r>
              <a:rPr sz="1600">
                <a:solidFill>
                  <a:srgbClr val="212921"/>
                </a:solidFill>
              </a:rPr>
              <a:t>Extend the dataset with more seasons/years to study long-term climate trends, not just a single-year snapshot.</a:t>
            </a:r>
          </a:p>
          <a:p>
            <a:pPr>
              <a:spcAft>
                <a:spcPts val="1000"/>
              </a:spcAft>
            </a:pPr>
            <a:r>
              <a:rPr sz="1600">
                <a:solidFill>
                  <a:srgbClr val="212921"/>
                </a:solidFill>
              </a:rPr>
              <a:t>Develop a simple dashboard (e.g. Streamlit/Power BI) so farmers and officers can explore seasonal insights interactively.</a:t>
            </a:r>
          </a:p>
          <a:p>
            <a:pPr>
              <a:spcAft>
                <a:spcPts val="1000"/>
              </a:spcAft>
            </a:pPr>
            <a:r>
              <a:rPr sz="1600">
                <a:solidFill>
                  <a:srgbClr val="212921"/>
                </a:solidFill>
              </a:rPr>
              <a:t>Add district-level granularity and satellite/soil-health data to make recommendations more localized.</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https://github.com/ArnaovGarg925/Seasonal-Agriculture-Performance-Analysis.git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93040"/>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D2227D3-1CC2-0BE3-11C7-411497585C49}"/>
              </a:ext>
            </a:extLst>
          </p:cNvPr>
          <p:cNvPicPr>
            <a:picLocks noChangeAspect="1"/>
          </p:cNvPicPr>
          <p:nvPr/>
        </p:nvPicPr>
        <p:blipFill>
          <a:blip r:embed="rId3"/>
          <a:stretch>
            <a:fillRect/>
          </a:stretch>
        </p:blipFill>
        <p:spPr>
          <a:xfrm>
            <a:off x="675957" y="1275371"/>
            <a:ext cx="7513971" cy="529635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83820" y="291240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1364</TotalTime>
  <Words>584</Words>
  <Application>Microsoft Office PowerPoint</Application>
  <PresentationFormat>Widescreen</PresentationFormat>
  <Paragraphs>55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This project analyzes a farm-level dataset of 4,000 records covering three Indian cropping seasons - Kharif, Rabi and Zaid - across 8 states, 8 crops and 4 irrigation methods. The workflow includes data cleaning (handling missing values and outliers), exploratory data analysis, and seasonal comparison of yield, cost, revenue, profit, water efficiency and disease/pest risk. Statistical testing (one-way ANOVA) is used to confirm whether the seasonal differences observed are significant. The complete analysis - cleaning, visualizations, statistical tests, insights and recommendations - is documented in a single Jupyter Notebook.</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Arnaov Garg</cp:lastModifiedBy>
  <cp:revision>100</cp:revision>
  <dcterms:created xsi:type="dcterms:W3CDTF">2021-07-11T13:13:15Z</dcterms:created>
  <dcterms:modified xsi:type="dcterms:W3CDTF">2026-09-05T16:47:00Z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